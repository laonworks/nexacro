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NEXACRO PLATFORM 입문 과정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5087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3부 — 서버 연동과 화면 흐름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514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Transaction · CRUD 패턴 · 화면 이동과 팝업  (10~12차시)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58368" y="3246120"/>
            <a:ext cx="2011680" cy="0"/>
          </a:xfrm>
          <a:prstGeom prst="line">
            <a:avLst/>
          </a:prstGeom>
          <a:noFill/>
          <a:ln w="38100">
            <a:solidFill>
              <a:srgbClr val="3D5A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251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Nexacro N  ·  TOBESOFT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3부에서 배우는 것 — 드디어 진짜 데이터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지금까지(2부): </a:t>
            </a:r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Dataset에 미리 넣어둔 가짜 데이터로 연습  </a:t>
            </a:r>
            <a:pPr indent="0" marL="0">
              <a:buNone/>
            </a:pPr>
            <a:r>
              <a:rPr lang="en-US" sz="1350" b="1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이제부터(3부): </a:t>
            </a:r>
            <a:pPr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서버에서 조회하고, 서버에 저장한다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2651760" cy="2606040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6" name="Shape 4"/>
          <p:cNvSpPr/>
          <p:nvPr/>
        </p:nvSpPr>
        <p:spPr>
          <a:xfrm>
            <a:off x="621792" y="1965960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965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34440" y="20116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통신 — Transaction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21792" y="2743200"/>
            <a:ext cx="23225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transaction() 6요소 해부, 입출력 Dataset 매핑, 응답 포맷(PlatformXml)과 콜백, ErrorCode 규약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" y="3977640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실습: 조회 → Grid 출력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46120" y="1783080"/>
            <a:ext cx="2651760" cy="2606040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12" name="Shape 10"/>
          <p:cNvSpPr/>
          <p:nvPr/>
        </p:nvSpPr>
        <p:spPr>
          <a:xfrm>
            <a:off x="3410712" y="1965960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3410712" y="1965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023360" y="20116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CRUD 패턴 완성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410712" y="2743200"/>
            <a:ext cx="23225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조회→편집→저장→재조회 사이클. 변경분만 전송(:U), rowtype의 실전 활용, 저장 후 동기화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10712" y="3977640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실습: 등록·수정·삭제 왕복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35040" y="1783080"/>
            <a:ext cx="2651760" cy="2606040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18" name="Shape 16"/>
          <p:cNvSpPr/>
          <p:nvPr/>
        </p:nvSpPr>
        <p:spPr>
          <a:xfrm>
            <a:off x="6199632" y="1965960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199632" y="1965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812280" y="20116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이동과 팝업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199632" y="2743200"/>
            <a:ext cx="23225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set_url 화면 전환, Modal 팝업의 부모-자식 데이터 교환, 공통 스크립트(.xjs) 분리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977640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실습: 사원 검색 팝업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준비물: Mock 서버 실행(node server.js) + Services 등록(svc = http://localhost:8090/)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5156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0" b="1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566928" y="24871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400" kern="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차시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91840" y="11430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통신 — Transaction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337560" y="2148840"/>
            <a:ext cx="5303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—"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통신의 큰 그림 — 요청은 지금, 응답은 나중에(비동기)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—"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transaction() 6요소 해부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—"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입출력 Dataset 매핑과 응답 포맷(PlatformXml)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—"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콜백과 ErrorCode 규약, 실습 — 서버 조회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10차시 — 서버 통신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중요한 한 가지 — 통신은 비동기다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01168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201168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transaction() 호출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(요청을 보내고 즉시 리턴)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26080" y="1554480"/>
            <a:ext cx="2011680" cy="777240"/>
          </a:xfrm>
          <a:prstGeom prst="rect">
            <a:avLst/>
          </a:prstGeom>
          <a:solidFill>
            <a:srgbClr val="F0F4FB"/>
          </a:solidFill>
          <a:ln w="12700">
            <a:solidFill>
              <a:srgbClr val="F0F4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0" y="1554480"/>
            <a:ext cx="201168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서버 처리 중…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(화면은 멈추지 않는다)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94960" y="1554480"/>
            <a:ext cx="2011680" cy="777240"/>
          </a:xfrm>
          <a:prstGeom prst="rect">
            <a:avLst/>
          </a:prstGeom>
          <a:solidFill>
            <a:srgbClr val="3D5AF1"/>
          </a:solidFill>
          <a:ln w="12700">
            <a:solidFill>
              <a:srgbClr val="3D5A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94960" y="1554480"/>
            <a:ext cx="201168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응답 도착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콜백 함수 자동 호출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87168" y="178308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56048" y="178308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2606040"/>
            <a:ext cx="5120640" cy="1783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606040"/>
            <a:ext cx="4846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this.transaction("svcList", …, "fn_callback");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4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이 줄은 응답이 오기 '전'에 실행된다!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4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cnt = this.ds_emp.getRowCount();  // 0 !!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E8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결과 처리는 반드시 콜백 안에서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this.fn_callback = function(id, code, msg)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cnt = this.ds_emp.getRowCount(); // OK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760720" y="2606040"/>
            <a:ext cx="2926080" cy="1783080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15" name="Shape 13"/>
          <p:cNvSpPr/>
          <p:nvPr/>
        </p:nvSpPr>
        <p:spPr>
          <a:xfrm>
            <a:off x="5760720" y="2606040"/>
            <a:ext cx="64008" cy="1783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271576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비동기인가?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0" y="3063240"/>
            <a:ext cx="260604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응답을 기다리며 화면을 얼리면(동기) 사용자는 멈춘 프로그램을 보게 된다.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“요청은 지금, 처리는 나중에 콜백에서” — 3부 전체를 관통하는 규칙.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4526280"/>
            <a:ext cx="8229600" cy="502920"/>
          </a:xfrm>
          <a:prstGeom prst="rect">
            <a:avLst/>
          </a:prstGeom>
          <a:solidFill>
            <a:srgbClr val="FFF4E5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5262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사고 전환  </a:t>
            </a:r>
            <a:pPr indent="0" marL="0">
              <a:buNone/>
            </a:pPr>
            <a:r>
              <a:rPr lang="en-US" sz="1200" dirty="0">
                <a:solidFill>
                  <a:srgbClr val="7835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transaction 다음 줄에서 결과를 쓰는 실수가 입문자 오류 1위. “다음 줄”이 아니라 “콜백”이 통신의 다음 줄이다.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10차시 — 서버 통신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transaction() 6요소 해부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13716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32588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this.transaction(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"svcEmpList",          // ① 서비스ID    "svc::emp/list.do",   // ② URL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"ds_save=ds_emp:U",    // ③ 입력 DS     "ds_emp=ds_out",      // ④ 출력 DS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"DEPT_CD=D01",         // ⑤ 파라미터    "fn_callback");       // ⑥ 콜백 함수명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2880360"/>
            <a:ext cx="4069080" cy="585216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2926080"/>
            <a:ext cx="1234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서비스ID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74520" y="2926080"/>
            <a:ext cx="2514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통신의 이름표. 콜백에서 어떤 요청의 응답인지 구분하는 키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17720" y="2880360"/>
            <a:ext cx="4069080" cy="585216"/>
          </a:xfrm>
          <a:prstGeom prst="rect">
            <a:avLst/>
          </a:prstGeom>
          <a:solidFill>
            <a:srgbClr val="F7F9FE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2926080"/>
            <a:ext cx="1234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URL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35040" y="2926080"/>
            <a:ext cx="2514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svc:: 는 TypeDefinition에 등록한 주소 별칭(prefixid). 환경이 바뀌어도 코드는 그대로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538728"/>
            <a:ext cx="4069080" cy="585216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3584448"/>
            <a:ext cx="1234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입력 Dataset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874520" y="3584448"/>
            <a:ext cx="2514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"보낼DS=내DS" 형식. :U 를 붙이면 변경분(추가·수정·삭제)만 전송 (11차시)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3538728"/>
            <a:ext cx="4069080" cy="585216"/>
          </a:xfrm>
          <a:prstGeom prst="rect">
            <a:avLst/>
          </a:prstGeom>
          <a:solidFill>
            <a:srgbClr val="F7F9FE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3584448"/>
            <a:ext cx="1234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출력 Dataset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35040" y="3584448"/>
            <a:ext cx="2514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"내DS=서버DS" 형식. 서버가 보낸 Dataset이 내 Dataset으로 자동 복사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197096"/>
            <a:ext cx="4069080" cy="585216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4242816"/>
            <a:ext cx="1234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파라미터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874520" y="4242816"/>
            <a:ext cx="2514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"키=값 키=값" — 공백으로 구분. 검색조건 등 단순 값 전달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17720" y="4197096"/>
            <a:ext cx="4069080" cy="585216"/>
          </a:xfrm>
          <a:prstGeom prst="rect">
            <a:avLst/>
          </a:prstGeom>
          <a:solidFill>
            <a:srgbClr val="F7F9FE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4242816"/>
            <a:ext cx="1234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콜백 함수명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35040" y="4242816"/>
            <a:ext cx="2514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도착 시 호출될 함수의 '이름 문자열'. 오타가 나도 에러가 안 난다 — 주의!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10차시 — 서버 통신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입출력 Dataset 매핑 — “=”의 방향 읽는 법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출력:  "ds_emp = ds_out"  → 받는다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463040" cy="731520"/>
          </a:xfrm>
          <a:prstGeom prst="rect">
            <a:avLst/>
          </a:prstGeom>
          <a:solidFill>
            <a:srgbClr val="F0F4FB"/>
          </a:solidFill>
          <a:ln w="12700">
            <a:solidFill>
              <a:srgbClr val="F0F4F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146304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서버의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ds_out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965960" y="19659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 →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0" y="1783080"/>
            <a:ext cx="146304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1783080"/>
            <a:ext cx="146304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화면의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ds_emp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6517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것이 왼쪽! 서버가 준 것을 내 그릇에 담는다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371600"/>
            <a:ext cx="0" cy="1691640"/>
          </a:xfrm>
          <a:prstGeom prst="line">
            <a:avLst/>
          </a:prstGeom>
          <a:noFill/>
          <a:ln w="12700">
            <a:solidFill>
              <a:srgbClr val="D9E2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37160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입력:  "ds_save = ds_emp"  → 보낸다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983480" y="1783080"/>
            <a:ext cx="146304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1783080"/>
            <a:ext cx="146304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화면의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ds_emp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92240" y="19659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전송 →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269480" y="1783080"/>
            <a:ext cx="1417320" cy="731520"/>
          </a:xfrm>
          <a:prstGeom prst="rect">
            <a:avLst/>
          </a:prstGeom>
          <a:solidFill>
            <a:srgbClr val="F0F4FB"/>
          </a:solidFill>
          <a:ln w="12700">
            <a:solidFill>
              <a:srgbClr val="F0F4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69480" y="1783080"/>
            <a:ext cx="141732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서버가 받을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ds_save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83480" y="265176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서버가 받을 이름이 왼쪽 — 서버와의 “이름 약속”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246120"/>
            <a:ext cx="8229600" cy="0"/>
          </a:xfrm>
          <a:prstGeom prst="line">
            <a:avLst/>
          </a:prstGeom>
          <a:noFill/>
          <a:ln w="12700">
            <a:solidFill>
              <a:srgbClr val="D9E2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429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개를 한 번에:  </a:t>
            </a:r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"ds_emp=ds_out ds_dept=ds_dept2" — 공백으로 구분해 나열. 컬럼 구조는 서버 응답이 만들어 주므로 빈 Dataset이어도 된다(&lt;Dataset id="ds_emp"/&gt;).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solidFill>
            <a:srgbClr val="FFF4E5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1148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암기법  </a:t>
            </a:r>
            <a:pPr indent="0" marL="0">
              <a:buNone/>
            </a:pPr>
            <a:r>
              <a:rPr lang="en-US" sz="1200" dirty="0">
                <a:solidFill>
                  <a:srgbClr val="7835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매핑은 대입문처럼 읽기 — ds_emp = ds_out 은 “ds_emp ← ds_out 을 담아라”. 입력도 같은 방향: 받는 쪽이 항상 왼쪽.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10차시 — 서버 통신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서버는 무엇을 보내오는가 — PlatformXml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5120640" cy="33832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32588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&lt;?xml version="1.0" encoding="utf-8"?&gt;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&lt;Root xmlns="http://www.nexacroplatform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.com/platform/dataset"&gt;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&lt;Parameters&gt;   &lt;!-- 처리 결과 약속 --&gt;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FE8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&lt;Parameter id="ErrorCode"&gt;0&lt;/Parameter&gt;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FE8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&lt;Parameter id="ErrorMsg"&gt;성공&lt;/Parameter&gt;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&lt;/Parameters&gt;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&lt;Dataset id="ds_out"&gt;  &lt;!-- 데이터 --&gt;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&lt;ColumnInfo&gt;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&lt;Column id="EMP_ID" type="STRING"/&gt;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&lt;/ColumnInfo&gt;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&lt;Rows&gt;&lt;Row&gt;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&lt;Col id="EMP_ID"&gt;E001&lt;/Col&gt;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&lt;/Row&gt;&lt;/Rows&gt;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&lt;/Dataset&gt;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&lt;/Root&gt;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760720" y="1325880"/>
            <a:ext cx="2926080" cy="1188720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7" name="Shape 5"/>
          <p:cNvSpPr/>
          <p:nvPr/>
        </p:nvSpPr>
        <p:spPr>
          <a:xfrm>
            <a:off x="5760720" y="1325880"/>
            <a:ext cx="64008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0" y="143560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ErrorCode 규약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0" y="1783080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이상 = 성공, 음수 = 실패.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ErrorMsg는 사용자에게 보여줄 메시지. 서버와 화면이 공유하는 “결과 보고 양식”이다.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760720" y="2679192"/>
            <a:ext cx="2926080" cy="1005840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11" name="Shape 9"/>
          <p:cNvSpPr/>
          <p:nvPr/>
        </p:nvSpPr>
        <p:spPr>
          <a:xfrm>
            <a:off x="5760720" y="2679192"/>
            <a:ext cx="64008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0" y="27889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포맷은 선택 가능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0" y="313639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XML(읽기 쉬움, 교육·디버깅에 유리) ↔ SSV(콤팩트 텍스트, 대용량에 유리). 동작 원리는 동일.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760720" y="38404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쪽은 무엇이든 가능 — Java(X-API), JSP, Spring, Node… “이 양식으로 응답”하기만 하면 넥사크로가 Dataset으로 복원한다.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10차시 — 서버 통신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 관리 — TypeDefinition Services와 Mock 서버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서비스 등록 (TypeDefinition &gt; Services)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41148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9260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prefixid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svc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url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http://localhost:8090/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2743200"/>
            <a:ext cx="4114800" cy="8686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274320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코드에서는 별칭으로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"svc::emp/list.do"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FE8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= http://localhost:8090/emp/list.do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37490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개발/검증/운영 서버가 달라져도 — 코드는 그대로, Services의 url만 바꾼다.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846320" y="1371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실습용 Mock 서버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846320" y="1783080"/>
            <a:ext cx="3840480" cy="73152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1" name="Text 8"/>
          <p:cNvSpPr/>
          <p:nvPr/>
        </p:nvSpPr>
        <p:spPr>
          <a:xfrm>
            <a:off x="4983480" y="17830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examples/mock_server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server.js   # localhost:8090 대기</a:t>
            </a:r>
            <a:endParaRPr lang="en-US" sz="11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2651760"/>
          <a:ext cx="38404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4688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URL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/emp/list.do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사원 조회 (DEPT_CD, EMP_NM)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/emp/save.do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변경분 저장 (11차시)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/dept/list.do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부서 목록 (콤보용)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solidFill>
            <a:srgbClr val="FFF4E5"/>
          </a:solidFill>
          <a:ln/>
        </p:spPr>
      </p:sp>
      <p:sp>
        <p:nvSpPr>
          <p:cNvPr id="14" name="Text 10"/>
          <p:cNvSpPr/>
          <p:nvPr/>
        </p:nvSpPr>
        <p:spPr>
          <a:xfrm>
            <a:off x="640080" y="42976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운영  </a:t>
            </a:r>
            <a:pPr indent="0" marL="0">
              <a:buNone/>
            </a:pPr>
            <a:r>
              <a:rPr lang="en-US" sz="1200" dirty="0">
                <a:solidFill>
                  <a:srgbClr val="7835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백엔드를 수강생이 만들면 진도가 무너진다 — Mock 서버를 미리 띄워두고 화면 개발에만 집중시키는 것이 3부의 핵심 전략.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10차시 — 서버 통신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콜백 함수 — 응답을 받는 자리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32918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37160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모든 통신이 이 하나의 콜백을 공유한다 */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this.fn_callback = function(svcID, errorCode, errorMsg)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1단계: 실패부터 거른다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(errorCode &lt; 0)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alert("오류 [" + svcID + "] " + errorMsg);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2단계: 서비스ID로 후처리 분기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(svcID == "svcEmpList")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this.sta_count.set_text(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this.ds_emp.getRowCount() + "건");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if (svcID == "svcDeptList") { …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760720" y="1371600"/>
            <a:ext cx="2926080" cy="1051560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7" name="Shape 5"/>
          <p:cNvSpPr/>
          <p:nvPr/>
        </p:nvSpPr>
        <p:spPr>
          <a:xfrm>
            <a:off x="5760720" y="1371600"/>
            <a:ext cx="64008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0" y="14813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errorCode &lt; 0 의 의미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0" y="1828800"/>
            <a:ext cx="26060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서버가 보낸 ErrorCode 음수값 — 또는 통신 자체 실패(서버 다운, 404, 타임아웃)도 음수로 들어온다.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760720" y="2587752"/>
            <a:ext cx="2926080" cy="1051560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11" name="Shape 9"/>
          <p:cNvSpPr/>
          <p:nvPr/>
        </p:nvSpPr>
        <p:spPr>
          <a:xfrm>
            <a:off x="5760720" y="2587752"/>
            <a:ext cx="64008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0" y="26974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svcID 분기 패턴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0" y="3044952"/>
            <a:ext cx="26060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콜백 하나 + if 분기가 표준. 통신마다 콜백을 따로 만들면 공통 에러 처리가 흩어진다.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760720" y="3803904"/>
            <a:ext cx="2926080" cy="868680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15" name="Shape 13"/>
          <p:cNvSpPr/>
          <p:nvPr/>
        </p:nvSpPr>
        <p:spPr>
          <a:xfrm>
            <a:off x="5760720" y="3803904"/>
            <a:ext cx="64008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391363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주의: 함수명은 문자열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0" y="4261104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"fn_callback" 오타 시 에러 없이 조용히 무시된다. “반응이 없으면 콜백 이름부터 확인”.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10차시 — 실습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① 서버에서 조회해 Grid에 뿌리기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023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순서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 Mock 서버 실행 확인 (브라우저로 dept/list.do 호출)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 TypeDefinition Services에 svc 등록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 onload에서 부서 콤보 조회 (svcDeptList)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 [조회] 버튼 → 검색조건 파라미터로 svcEmpList 호출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 콜백에서 건수 표시, Grid 자동 갱신 확인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3703320"/>
            <a:ext cx="4023360" cy="1005840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370332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예제 파일  </a:t>
            </a:r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examples/lesson10_transaction/EmpSearch.xfdl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과제: 이름 Edit에서 Enter 키로도 조회되게 만들기(onkeyup).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09160" y="1371600"/>
            <a:ext cx="3977640" cy="33375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371600"/>
            <a:ext cx="37033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조회 버튼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this.btn_search_onclick = function(obj,e)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 args = "DEPT_CD="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+ (this.cbo_dept.value || "")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+ " EMP_NM="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+ (this.edt_name.value || "");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this.transaction("svcEmpList",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"svc::emp/list.do",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"",                // 보낼 DS 없음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"ds_emp=ds_out",   // 결과 받기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args, "fn_callback");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5156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0" b="1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566928" y="24871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400" kern="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차시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91840" y="11430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CRUD 패턴 완성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337560" y="2148840"/>
            <a:ext cx="5303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—"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→ 편집 → 저장 → 재조회, 표준 사이클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—"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변경분만 전송 — ":U" 와 rowtype의 실전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—"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로직: 검증 → 확인 → 전송 → 동기화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—"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— 등록·수정·삭제 왕복 처리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11차시 — CRUD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 표준 패턴 — 한 화면의 일생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182880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0"/>
            <a:ext cx="182880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조회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→ ds_emp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97480" y="1645920"/>
            <a:ext cx="1828800" cy="868680"/>
          </a:xfrm>
          <a:prstGeom prst="rect">
            <a:avLst/>
          </a:prstGeom>
          <a:solidFill>
            <a:srgbClr val="F0F4FB"/>
          </a:solidFill>
          <a:ln w="12700">
            <a:solidFill>
              <a:srgbClr val="F0F4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97480" y="1645920"/>
            <a:ext cx="182880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편집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Grid에서 추가·수정·삭제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(Dataset이 전부 기억)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937760" y="1645920"/>
            <a:ext cx="1828800" cy="868680"/>
          </a:xfrm>
          <a:prstGeom prst="rect">
            <a:avLst/>
          </a:prstGeom>
          <a:solidFill>
            <a:srgbClr val="3D5AF1"/>
          </a:solidFill>
          <a:ln w="12700">
            <a:solidFill>
              <a:srgbClr val="3D5A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645920"/>
            <a:ext cx="182880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저장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변경분만 서버 전송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(ds_emp:U)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178040" y="1645920"/>
            <a:ext cx="150876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78040" y="1645920"/>
            <a:ext cx="150876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재조회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동기화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286000" y="18745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26280" y="18745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766560" y="18745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7200" y="283464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“건별 즉시 저장”이 아니라 “모아서 한 번에”인가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사용자는 여러 행을 고치고 마지막에 [저장] 한 번 — 통신 횟수 최소화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서버는 변경분을 한 트랜잭션으로 처리 — 전부 성공 or 전부 취소(원자성)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Dataset의 rowtype 추적(9차시) 덕분에 “무엇이 바뀌었나”를 화면이 들고 있다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4343400"/>
            <a:ext cx="8229600" cy="548640"/>
          </a:xfrm>
          <a:prstGeom prst="rect">
            <a:avLst/>
          </a:prstGeom>
          <a:solidFill>
            <a:srgbClr val="FFF4E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3434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재조회의 이유  </a:t>
            </a:r>
            <a:pPr indent="0" marL="0">
              <a:buNone/>
            </a:pPr>
            <a:r>
              <a:rPr lang="en-US" sz="1200" dirty="0">
                <a:solidFill>
                  <a:srgbClr val="7835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성공 후 다시 조회해야 ① 서버가 채번한 값(사번 등)이 화면에 반영되고 ② rowtype이 초기화되어 “수정됨” 표시가 사라진다.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11차시 — CRUD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"ds_save=ds_emp:U" — 변경분만 보내는 마법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화면의 ds_emp (5행)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64208"/>
            <a:ext cx="2103120" cy="420624"/>
          </a:xfrm>
          <a:prstGeom prst="rect">
            <a:avLst/>
          </a:prstGeom>
          <a:solidFill>
            <a:srgbClr val="F7F9FE"/>
          </a:solidFill>
          <a:ln w="9525">
            <a:solidFill>
              <a:srgbClr val="D9E2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664208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E001 (그대로)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2103120" cy="420624"/>
          </a:xfrm>
          <a:prstGeom prst="rect">
            <a:avLst/>
          </a:prstGeom>
          <a:solidFill>
            <a:srgbClr val="FFF4E5"/>
          </a:solidFill>
          <a:ln w="9525">
            <a:solidFill>
              <a:srgbClr val="D9E2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2148840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E002 수정됨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651760" y="2148840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전송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633472"/>
            <a:ext cx="2103120" cy="420624"/>
          </a:xfrm>
          <a:prstGeom prst="rect">
            <a:avLst/>
          </a:prstGeom>
          <a:solidFill>
            <a:srgbClr val="E8F6EC"/>
          </a:solidFill>
          <a:ln w="9525">
            <a:solidFill>
              <a:srgbClr val="D9E2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633472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E006 신규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651760" y="2633472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전송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118104"/>
            <a:ext cx="2103120" cy="420624"/>
          </a:xfrm>
          <a:prstGeom prst="rect">
            <a:avLst/>
          </a:prstGeom>
          <a:solidFill>
            <a:srgbClr val="F7F9FE"/>
          </a:solidFill>
          <a:ln w="9525">
            <a:solidFill>
              <a:srgbClr val="D9E2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3118104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E004 (그대로)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602736"/>
            <a:ext cx="2103120" cy="420624"/>
          </a:xfrm>
          <a:prstGeom prst="rect">
            <a:avLst/>
          </a:prstGeom>
          <a:solidFill>
            <a:srgbClr val="FBEAEA"/>
          </a:solidFill>
          <a:ln w="9525">
            <a:solidFill>
              <a:srgbClr val="D9E2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602736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(E003 삭제분)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651760" y="3602736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전송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520440" y="2331720"/>
            <a:ext cx="1371600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20440" y="2331720"/>
            <a:ext cx="1371600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ds_save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(3행만)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원본값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(OrgRow)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257800" y="13258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서버는 rowtype별로 처리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257800" y="1664208"/>
            <a:ext cx="3429000" cy="24688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22" name="Text 20"/>
          <p:cNvSpPr/>
          <p:nvPr/>
        </p:nvSpPr>
        <p:spPr>
          <a:xfrm>
            <a:off x="5394960" y="1664208"/>
            <a:ext cx="31546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(row of ds_save)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switch (row.type)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FE8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"insert":  // INSERT 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사번 채번 후 등록;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D7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"update":  // UPDATE 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키로 찾아 갱신;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"delete":  // DELETE 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키로 찾아 삭제;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343400"/>
            <a:ext cx="8229600" cy="548640"/>
          </a:xfrm>
          <a:prstGeom prst="rect">
            <a:avLst/>
          </a:prstGeom>
          <a:solidFill>
            <a:srgbClr val="FFF4E5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3434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가는 정보  </a:t>
            </a:r>
            <a:pPr indent="0" marL="0">
              <a:buNone/>
            </a:pPr>
            <a:r>
              <a:rPr lang="en-US" sz="1200" dirty="0">
                <a:solidFill>
                  <a:srgbClr val="7835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전송 시 수정 전 원본값(OrgRow)도 함께 직렬화된다 — 서버가 충돌 감지(낙관적 잠금)나 이력 기록에 활용할 수 있다.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11차시 — CRUD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버튼의 정석 — 4단계 방어 코드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33375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371600"/>
            <a:ext cx="48463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this.btn_save_onclick = function(obj, 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[1] 변경이 없으면 통신도 없다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(!this.fn_hasChanges())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alert("변경된 내용이 없습니다."); return;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[2] 추가/수정 행만 필수값 검증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(var i=0; i&lt;ds.getRowCount(); i++)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t = ds.getRowType(i);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(t==2 || t==4) { /* 검증 */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[3] 사용자 확인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(!confirm("저장하시겠습니까?")) return;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[4] 변경분 전송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this.transaction("svcSave", "svc::emp/save.do",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"ds_save=ds_emp:U", "", "", "fn_callback");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760720" y="1371600"/>
            <a:ext cx="2926080" cy="1188720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7" name="Shape 5"/>
          <p:cNvSpPr/>
          <p:nvPr/>
        </p:nvSpPr>
        <p:spPr>
          <a:xfrm>
            <a:off x="5760720" y="1371600"/>
            <a:ext cx="64008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0" y="14813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콜백에서 마무리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0" y="1828800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성공 → alert(결과 메시지) → fn_search() 재조회.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→ 메시지만 표시하고 화면 변경분은 그대로 보존(재시도 가능).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760720" y="2724912"/>
            <a:ext cx="2926080" cy="1051560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11" name="Shape 9"/>
          <p:cNvSpPr/>
          <p:nvPr/>
        </p:nvSpPr>
        <p:spPr>
          <a:xfrm>
            <a:off x="5760720" y="2724912"/>
            <a:ext cx="64008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0" y="28346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검증은 변경 행만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0" y="3182112"/>
            <a:ext cx="26060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행을 검증하면 조회만 한 행에서도 걸린다 — rowtype 2(추가)·4(수정)만 검사.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760720" y="39319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4단계가 몸에 배면 어떤 저장 화면도 같은 틀로 짠다 — “패턴이 곧 생산성”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11차시 — CRUD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 디테일 3가지 — 화면의 완성도를 가르는 것들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1024128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64008" cy="10241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463040"/>
            <a:ext cx="2286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미저장 변경 경고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017520" y="1463040"/>
            <a:ext cx="4114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변경분이 있는데 [조회]를 누르면 편집 내용이 날아간다.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fn_hasChanges() 체크 후 confirm("무시하고 조회할까요?") — 데이터 유실 방지의 기본기.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269480" y="1463040"/>
            <a:ext cx="1325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전 한 번, 화면 닫기 전 한 번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523744"/>
            <a:ext cx="8229600" cy="1024128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523744"/>
            <a:ext cx="64008" cy="10241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615184"/>
            <a:ext cx="2286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키 채번은 서버 책임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017520" y="2615184"/>
            <a:ext cx="4114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행의 사번을 화면에서 만들면 동시 사용자와 충돌한다.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화면은 비워서 보내고, 서버가 채번 → 재조회로 받아온다.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269480" y="2615184"/>
            <a:ext cx="1325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PK는 서버가, 화면은 보여주기만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675888"/>
            <a:ext cx="8229600" cy="1024128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3675888"/>
            <a:ext cx="64008" cy="10241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3767328"/>
            <a:ext cx="2286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deleteRow의 두 얼굴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017520" y="3767328"/>
            <a:ext cx="4114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화면에서는 사라지지만 Dataset이 삭제분을 보관 중.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getDeletedRowCount()로 확인 — 저장 전까지는 “예약된 삭제”일 뿐.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269480" y="3767328"/>
            <a:ext cx="1325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 확정은 저장 성공 시점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11차시 — 실습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② 사원 정보 등록·수정·삭제 왕복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테스트 (저장 → 재조회 확인까지)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 [조회] — 5명 표시 확인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 [행 추가] → 이름·부서 입력 → 상태 N 표시 확인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 기존 행 연봉 수정 → 상태 U 확인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 한 행 [행 삭제] — 화면에서 사라짐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 [저장] → “추가 1/수정 1/삭제 1” 메시지</a:t>
            </a:r>
            <a:endParaRPr lang="en-US" sz="12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 재조회 → 신규 사원에 서버가 채번한 사번 확인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3840480"/>
            <a:ext cx="4023360" cy="868680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38404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예제 파일  </a:t>
            </a:r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examples/lesson11_crud/EmpCrud.xfdl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과제: 저장 전 “이메일 형식” 검증을 추가해 보세요.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09160" y="1371600"/>
            <a:ext cx="3977640" cy="33375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371600"/>
            <a:ext cx="37033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변경 여부 체크 유틸 — 그대로 외워두기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this.fn_hasChanges = function()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(this.ds_emp.getDeletedRowCount() &gt; 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true;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(var i = 0;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i &lt; this.ds_emp.getRowCount(); i++)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t = this.ds_emp.getRowType(i);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 == 2 || t == 4) return true;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false;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5156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0" b="1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566928" y="24871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400" kern="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차시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91840" y="11430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이동과 팝업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337560" y="2148840"/>
            <a:ext cx="5303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—"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set_url — 작업영역 화면 전환과 파라미터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—"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Modal 팝업 — 부모·자식의 데이터 교환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—"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스크립트(.xjs) — include와 gfn_ 관례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—"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— 사원 검색 팝업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12차시 — 화면 흐름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전환 — div_work.set_url() 복습 + 파라미터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20116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37160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메뉴 클릭 → 작업영역 교체 (3차시 복습)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this.div_work.set_url("Base::EmpList.xfdl");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주의: set_url은 비동기 — 로드 완료 전에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자식 폼의 함수를 부르면 실패한다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FE8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안전한 전달법: 부모에 값을 두고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FE8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this.gv_empId = "E002";          // 부모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자식 onload에서 가져간다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id = this.parent.parent.gv_empId;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35204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parent.parent?  </a:t>
            </a:r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자식의 parent는 Div, Div의 parent가 부모 폼 — 한 단계는 그릇, 두 단계가 주인.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760720" y="1371600"/>
            <a:ext cx="2926080" cy="1143000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8" name="Shape 6"/>
          <p:cNvSpPr/>
          <p:nvPr/>
        </p:nvSpPr>
        <p:spPr>
          <a:xfrm>
            <a:off x="5760720" y="1371600"/>
            <a:ext cx="64008" cy="1143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0" y="14813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이동의 3가지 길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0" y="1828800"/>
            <a:ext cx="2606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Div의 set_url (이번 과정)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FrameSet의 Frame 교체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팝업(ChildFrame) — 다음 슬라이드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760720" y="2679192"/>
            <a:ext cx="2926080" cy="1143000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12" name="Shape 10"/>
          <p:cNvSpPr/>
          <p:nvPr/>
        </p:nvSpPr>
        <p:spPr>
          <a:xfrm>
            <a:off x="5760720" y="2679192"/>
            <a:ext cx="64008" cy="1143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0" y="27889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어디에 무엇을 쓰나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0" y="3136392"/>
            <a:ext cx="2606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화면 전환 = ①②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잠깐 묻고 돌아오기(검색·확인) = ③ 팝업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solidFill>
            <a:srgbClr val="FFF4E5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1148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감각  </a:t>
            </a:r>
            <a:pPr indent="0" marL="0">
              <a:buNone/>
            </a:pPr>
            <a:r>
              <a:rPr lang="en-US" sz="1200" dirty="0">
                <a:solidFill>
                  <a:srgbClr val="7835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“돌아올 화면인가?”가 기준 — 돌아온다면 팝업, 아예 넘어간다면 전환. 실습 프로젝트(4부)에서 두 가지를 모두 쓴다.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12차시 — 화면 흐름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Modal 팝업 — 부모와 자식의 대화법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19456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219456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부모 폼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showModal(...args)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474720" y="1417320"/>
            <a:ext cx="2194560" cy="914400"/>
          </a:xfrm>
          <a:prstGeom prst="rect">
            <a:avLst/>
          </a:prstGeom>
          <a:solidFill>
            <a:srgbClr val="F0F4FB"/>
          </a:solidFill>
          <a:ln w="12700">
            <a:solidFill>
              <a:srgbClr val="F0F4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1417320"/>
            <a:ext cx="219456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팝업(자식)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onload에서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arguments 수신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92240" y="1417320"/>
            <a:ext cx="2194560" cy="914400"/>
          </a:xfrm>
          <a:prstGeom prst="rect">
            <a:avLst/>
          </a:prstGeom>
          <a:solidFill>
            <a:srgbClr val="3D5AF1"/>
          </a:solidFill>
          <a:ln w="12700">
            <a:solidFill>
              <a:srgbClr val="3D5A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417320"/>
            <a:ext cx="219456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자식 close(값)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부모 콜백 호출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697480" y="16002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args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715000" y="16002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결과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606040"/>
            <a:ext cx="4114800" cy="210312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606040"/>
            <a:ext cx="3840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[부모] 팝업 열기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popup = new ChildFrame();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popup.init("popEmp",0,0,520,420,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null,null,"Base::EmpPopup.xfdl");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popup.showModal(this.getOwnerFrame(),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FE8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{searchName:"김"},   // args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this, "fn_popupCallback");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this.fn_popupCallback =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function(id, rtn) { JSON.parse(rtn) }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09160" y="2606040"/>
            <a:ext cx="3977640" cy="210312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2606040"/>
            <a:ext cx="3703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[자식] 값 받기 (onload)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arg = this.getOwnerFrame()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.arguments;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arg.searchName;  // "김"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[자식] 결과 돌려주고 닫기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this.close(JSON.stringify({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EMP_ID: "E002",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EMP_NM: "이영희" }));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FE8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취소는 this.close(); 값 없이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12차시 — 화면 흐름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스크립트(.xjs) — 복붙을 멈추는 기술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023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분리하는가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팝업 열기 코드 7줄을 화면마다 복붙? — 한 곳만 고치면 되게 묶는다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메시지창·널 체크·날짜 포맷 — 모든 화면이 쓰는 것은 전부 후보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관례: 전역 함수는 gfn_ 접두어, 파일은 Lib:: 별칭 폴더에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효과: 나중에 “alert을 디자인된 메시지창으로 교체” 같은 변경이 한 줄로 끝남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709160" y="1371600"/>
            <a:ext cx="3977640" cy="27432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6" name="Text 4"/>
          <p:cNvSpPr/>
          <p:nvPr/>
        </p:nvSpPr>
        <p:spPr>
          <a:xfrm>
            <a:off x="4846320" y="1371600"/>
            <a:ext cx="3703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폼 스크립트 첫 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 "Lib::lib_comm.xjs";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이후 어디서든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this.gfn_isEmpty(val);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this.gfn_alert("저장 완료");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this.gfn_openPopup("popEmp",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"Base::EmpPopup.xfdl",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{searchName:"김"},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"fn_popupCallback", 520, 420);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solidFill>
            <a:srgbClr val="FFF4E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42976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4부 예고  </a:t>
            </a:r>
            <a:pPr indent="0" marL="0">
              <a:buNone/>
            </a:pPr>
            <a:r>
              <a:rPr lang="en-US" sz="1200" dirty="0">
                <a:solidFill>
                  <a:srgbClr val="7835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프로젝트의 comm.xjs에는 gfn_transaction(통신 래퍼)까지 들어간다 — 로딩 표시·공통 로그를 한 곳에서 관리.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12차시 — 실습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③ 사원 검색 팝업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023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 것 — 실무 단골 “돋보기 패턴”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 부모: 읽기전용 Edit + 🔍 버튼 → gfn_openPopup 호출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 팝업: 검색 Edit + Grid, 열리자마자 1차 조회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 더블클릭 또는 [선택] → close(JSON.stringify(사원))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 부모 콜백: JSON.parse → Edit 2개(이름/사번) 채우기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 [닫기] = close() — 부모는 “취소”로 인식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3794760"/>
            <a:ext cx="4023360" cy="914400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37947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예제 파일  </a:t>
            </a:r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examples/lesson12_popup/ (EmpMain·EmpPopup·lib_comm.xjs)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과제: 팝업에 “부서 콤보” 검색조건을 추가해 보세요.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09160" y="1371600"/>
            <a:ext cx="3977640" cy="33375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371600"/>
            <a:ext cx="37033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8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[자식] 더블클릭 = 선택 (실무 관례)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this.grd_emp_oncelldblclick =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function(obj, e) { this.fn_select(); };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this.fn_select = function()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 n = this.ds_emp.rowposition;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(n &lt; 0) { alert("선택하세요"); return; 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this.close(JSON.stringify({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EMP_ID: this.ds_emp.getColumn(n,"EMP_ID"),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EMP_NM: this.ds_emp.getColumn(n,"EMP_NM")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D5A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3부 정리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3부 총정리 — 그리고 프로젝트로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하는 실수 Top 4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4572000" cy="658368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8470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2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transaction 다음 줄에서 결과 사용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94360" y="212140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결과는 콜백 안에서만 — “콜백이 다음 줄”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4572000" cy="658368"/>
          </a:xfrm>
          <a:prstGeom prst="rect">
            <a:avLst/>
          </a:prstGeom>
          <a:solidFill>
            <a:srgbClr val="F7F9FE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57860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2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콜백 함수명 오타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94360" y="285292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문자열이라 에러도 안 난다. 반응 없으면 제일 먼저 의심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3246120"/>
            <a:ext cx="4572000" cy="658368"/>
          </a:xfrm>
          <a:prstGeom prst="rect">
            <a:avLst/>
          </a:prstGeom>
          <a:solidFill>
            <a:srgbClr val="F0F4FB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331012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2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후 재조회 누락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4360" y="358444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채번값 미반영 + rowtype 안 풀림 — 성공 콜백에서 fn_search()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977640"/>
            <a:ext cx="4572000" cy="658368"/>
          </a:xfrm>
          <a:prstGeom prst="rect">
            <a:avLst/>
          </a:prstGeom>
          <a:solidFill>
            <a:srgbClr val="F7F9FE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404164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2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close()에 객체 전달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94360" y="43159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문자열만 가능 — JSON.stringify / parse 한 쌍으로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0" y="1371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3부에서 익힌 것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0" y="178308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2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transaction 6요소와 비동기 콜백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2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입출력 DS 매핑, ErrorCode 규약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2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변경분 전송(:U)과 CRUD 사이클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✓"/>
            </a:pPr>
            <a:r>
              <a:rPr lang="en-US" sz="12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팝업 데이터 교환, 공통 .xjs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0" y="3429000"/>
            <a:ext cx="3200400" cy="12801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0" y="342900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시간 (4부 · 13차시)</a:t>
            </a:r>
            <a:endParaRPr lang="en-US" sz="120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프로젝트 시작 — 사원 관리 시스템</a:t>
            </a:r>
            <a:endParaRPr lang="en-US" sz="120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지금까지의 전부를 하나의 시스템으로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넥사크로 3부 — 서버 연동과 화면 흐름 (10~12차시)</dc:title>
  <dc:subject>PptxGenJS Presentation</dc:subject>
  <dc:creator>Nexacro 강의</dc:creator>
  <cp:lastModifiedBy>Nexacro 강의</cp:lastModifiedBy>
  <cp:revision>1</cp:revision>
  <dcterms:created xsi:type="dcterms:W3CDTF">2026-06-12T03:49:43Z</dcterms:created>
  <dcterms:modified xsi:type="dcterms:W3CDTF">2026-06-12T03:49:43Z</dcterms:modified>
</cp:coreProperties>
</file>